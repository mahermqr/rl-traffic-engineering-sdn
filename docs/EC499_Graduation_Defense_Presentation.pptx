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UNIVERSITY OF TRIPOLI  •  FACULTY OF ENGINEERING  •  DEPT. OF COMPUTER ENGINEERING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97680" y="1371600"/>
            <a:ext cx="3593592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EC499 FINAL GRADUATION PROJECT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Reinforcement Learning for Adaptive Traffic Engineering in an SDN Network</a:t>
            </a:r>
          </a:p>
          <a:p>
            <a:pPr algn="ctr">
              <a:defRPr sz="1400">
                <a:solidFill>
                  <a:srgbClr val="CBD5E1"/>
                </a:solidFill>
              </a:defRPr>
            </a:pPr>
            <a:r>
              <a:t>Autonomous Congestion Mitigation, Tail Latency Minimization, and Zero-Shot Transfer via Dueling Double DQN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3931920"/>
            <a:ext cx="38404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4069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Candidate Author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3891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Maher Abdulnasir Alqadhi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 ID: 2210249576</a:t>
            </a:r>
            <a:br/>
            <a:r>
              <a:t>Email: ma.alqadhi@uot.edu.ly</a:t>
            </a:r>
            <a:br/>
            <a:r>
              <a:t>B.Sc. in Computer Engineering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31920"/>
            <a:ext cx="38404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4069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Project 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Dr. Suad El-Geder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Associate Professor</a:t>
            </a:r>
            <a:br/>
            <a:r>
              <a:t>Dept. of Computer Engineering</a:t>
            </a:r>
            <a:br/>
            <a:r>
              <a:t>Faculty of Engineering, University of Tripoli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Presentation Agenda &amp; Defense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664208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9344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Problem Statement &amp; Classical Routing Pitfalls  —  </a:t>
            </a:r>
            <a:r>
              <a:rPr b="0">
                <a:solidFill>
                  <a:srgbClr val="64748B"/>
                </a:solidFill>
              </a:rPr>
              <a:t>Why static OSPF, ECMP, and greedy heuristics collapse under bursty traffic.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942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359152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04288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SDN &amp; DRL System Architecture  —  </a:t>
            </a:r>
            <a:r>
              <a:rPr b="0">
                <a:solidFill>
                  <a:srgbClr val="64748B"/>
                </a:solidFill>
              </a:rPr>
              <a:t>Closed-loop Ryu OpenFlow 1.3 control plane with PyTorch D3QN policy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44368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054096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99232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Mathematical Modeling &amp; MDP Formulation  —  </a:t>
            </a:r>
            <a:r>
              <a:rPr b="0">
                <a:solidFill>
                  <a:srgbClr val="64748B"/>
                </a:solidFill>
              </a:rPr>
              <a:t>10D normalized state space, candidate path synthesis, and multi-objective Pareto reward.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39312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749040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Empirical Tournament &amp; Stress Benchmarks  —  </a:t>
            </a:r>
            <a:r>
              <a:rPr b="0">
                <a:solidFill>
                  <a:srgbClr val="64748B"/>
                </a:solidFill>
              </a:rPr>
              <a:t>Head-to-head evaluation across 5 standard topologies and zero-shot random graphs.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34256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443984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89120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Official Mininet Emulation Validation  —  </a:t>
            </a:r>
            <a:r>
              <a:rPr b="0">
                <a:solidFill>
                  <a:srgbClr val="64748B"/>
                </a:solidFill>
              </a:rPr>
              <a:t>Line-rate UDP delivery, 76.2% jitter suppression, and 450× packet loss eradication.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5138928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084064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Interactive Web Dashboard &amp; Chaos Console  —  </a:t>
            </a:r>
            <a:r>
              <a:rPr b="0">
                <a:solidFill>
                  <a:srgbClr val="64748B"/>
                </a:solidFill>
              </a:rPr>
              <a:t>Real-time topology canvas, 6-protocol tournament arena, and model weights inspector.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2414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833872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779008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Critical Discussion &amp; Defense Preparation  —  </a:t>
            </a:r>
            <a:r>
              <a:rPr b="0">
                <a:solidFill>
                  <a:srgbClr val="64748B"/>
                </a:solidFill>
              </a:rPr>
              <a:t>Herd behavior analysis, delay inflation trade-offs, and 10 tough examiner Q&amp;As.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Traffic Engineering Crisis in Modern Networks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Bursty &amp; Asymmetric Demands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Exponential Cloud Traffic Growth</a:t>
            </a:r>
          </a:p>
          <a:p>
            <a:r>
              <a:t>High-definition media, real-time gaming, AI distributed cluster synchronization, and microservice RPC traffic generate non-stationary traffic spikes.</a:t>
            </a:r>
          </a:p>
          <a:p/>
          <a:p>
            <a:r>
              <a:t>• The 'Elephant vs. Mice' Dilemma</a:t>
            </a:r>
          </a:p>
          <a:p>
            <a:r>
              <a:t>Over 80% of network flows are short-lived 'mice', but 20% of 'elephant' flows carry over 80% of all bytes, creating localized flash congestion.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Static Metric Blindness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Static Hop Count &amp; Link Weights</a:t>
            </a:r>
          </a:p>
          <a:p>
            <a:r>
              <a:t>Classical protocols compute routes using administrative weights set during deployment.</a:t>
            </a:r>
          </a:p>
          <a:p/>
          <a:p>
            <a:r>
              <a:t>• Zero Congestion Awareness</a:t>
            </a:r>
          </a:p>
          <a:p>
            <a:r>
              <a:t>A 100 Mbps link carrying 99 Mbps has the identical OSPF metric as a link carrying 0 Mbps.</a:t>
            </a:r>
          </a:p>
          <a:p/>
          <a:p>
            <a:r>
              <a:t>• Core Switch Saturation</a:t>
            </a:r>
          </a:p>
          <a:p>
            <a:r>
              <a:t>Shortest paths inevitably funnel all flows onto the same central trunks, while redundant lateral links remain completely idle.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3. Consequences for SLA &amp; QoS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Severe Queuing Delay Spikes</a:t>
            </a:r>
          </a:p>
          <a:p>
            <a:r>
              <a:t>Buffer occupancy escalates non-linearly under Kleinrock queueing models as utilization approaches 100%.</a:t>
            </a:r>
          </a:p>
          <a:p/>
          <a:p>
            <a:r>
              <a:t>• Packet Delay Variation (Jitter)</a:t>
            </a:r>
          </a:p>
          <a:p>
            <a:r>
              <a:t>Violates RFC 3393 bounds, destroying voice (VoIP) and real-time streaming sessions.</a:t>
            </a:r>
          </a:p>
          <a:p/>
          <a:p>
            <a:r>
              <a:t>• Buffer Overflow Dropouts</a:t>
            </a:r>
          </a:p>
          <a:p>
            <a:r>
              <a:t>TCP tail-drops cause window deflation, catastrophic timeouts, and throughput collapse.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Comparative Pitfalls: OSPF, ECMP, and Greedy Heuristics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Dijkstra SPF (Shortest 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4592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Minimizes pure scalar hop count d(u,v) =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Blind to link utilization; persistently creates central core bottleneck congestion.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OSPF (RFC 2328 Standard)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60604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Uses administrative cost C = Ref_BW / Link_BW.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Weights remain static; cannot adapt to dynamic surges or buffer queue buildup.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ECMP (Equal-Cost Multi-Path)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6616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Hashes 5-tuple headers to balance across tied paths.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56616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Hash collisions funnel multiple elephant flows onto the same link; fails on asymmetric graphs.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Widest Shortest Path (WSP)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52628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Greedy: selects path with highest bottleneck capacity.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2628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Suffers from severe herd behavior: assigns all consecutive flows to the same link.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Least Loaded Routing (LLR)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48640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Greedy: routes to instantaneous lowest-utilized path.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548640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Myopic zero-memory decisions; triggers cascading saturation and oscillation.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Software-Defined Networking (SDN) as an Enabler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SDN Control &amp; Data Plane Decoupling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Centralized Control Plane Intelligence</a:t>
            </a:r>
          </a:p>
          <a:p>
            <a:r>
              <a:t>The Ryu SDN controller maintains global network state, link discovery via LLDP, and dynamic topology graph management.</a:t>
            </a:r>
          </a:p>
          <a:p/>
          <a:p>
            <a:r>
              <a:t>• Standardized OpenFlow 1.3 Protocol</a:t>
            </a:r>
          </a:p>
          <a:p>
            <a:r>
              <a:t>Direct hardware flow table programming via explicit FlowMod match-action tuples pushed atomically into switch TCAM.</a:t>
            </a:r>
          </a:p>
          <a:p/>
          <a:p>
            <a:r>
              <a:t>• High-Frequency Port Telemetry</a:t>
            </a:r>
          </a:p>
          <a:p>
            <a:r>
              <a:t>Periodic OFPPortStatsRequest/Reply polling captures differential byte counters (Δbytes/Δt) to derive real-time link loads.</a:t>
            </a:r>
          </a:p>
          <a:p/>
          <a:p>
            <a:r>
              <a:t>• Software Abstraction</a:t>
            </a:r>
          </a:p>
          <a:p>
            <a:r>
              <a:t>Decouples hardware forwarding from routing intelligence, enabling AI-driven control loops.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The 'Intelligence Gap' in Standard SDN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Fundamental Limitation of SDN</a:t>
            </a:r>
          </a:p>
          <a:p>
            <a:r>
              <a:t>SDN provides the mechanism to steer flows, but does NOT specify the policy of HOW to steer them optimally under dynamic stress.</a:t>
            </a:r>
          </a:p>
          <a:p/>
          <a:p>
            <a:r>
              <a:t>• Computational Infeasibility of ILP</a:t>
            </a:r>
          </a:p>
          <a:p>
            <a:r>
              <a:t>Integer Linear Programming (ILP) multi-commodity flow optimization is NP-hard. Real-time solver execution ($&gt;10$ seconds) is too slow for sub-second traffic surges.</a:t>
            </a:r>
          </a:p>
          <a:p/>
          <a:p>
            <a:r>
              <a:t>• The Deep Reinforcement Learning Solution</a:t>
            </a:r>
          </a:p>
          <a:p>
            <a:r>
              <a:t>DRL bridges this gap: offline learning of complex non-linear network dynamics, combined with ultra-fast forward neural inference ($&lt;0.05$ ms) for wire-speed routing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Graduation Proposal Compliance &amp; Objective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27632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Design a Deep Q-Network agent to automate dynamic routing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27632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Dueling Double DQN with LayerNorm &amp; Prioritized Replay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1719072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32304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Integrate RL agent with Ryu SDN controller and Mininet emulator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32304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Ryu OpenFlow 1.3 controller driving emulated OVS switches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0" y="2523744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63824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3697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36976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Reduce network latency and jitter compared to standard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36976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Continuous RFC 3393 delay variation tracking &amp; latency reduction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3328416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68496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41648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041648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Maximize total network throughput by optimizing link utilization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041648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Pareto reward with asymptotic congestion barrier penalty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4133088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773168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46320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846320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Evaluate performance using packet loss and control overhead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20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M/M/1/K buffer loss model &amp; full OpenFlow message accounting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4937760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77840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Procedure 1-6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5650992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Literature review, Mininet setup, state/reward formulation, synthetic training, benchmarking, technical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650992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106-Page Final Technical Report, 32 passing unit tests, and interactive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0" y="5742432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Closed-Loop Control Plane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OpenFlow 1.3 Data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Open vSwitch (OVS) Switches</a:t>
            </a:r>
          </a:p>
          <a:p>
            <a:r>
              <a:t>Emulated in Mininet with Linux kernel packet processing.</a:t>
            </a:r>
          </a:p>
          <a:p/>
          <a:p>
            <a:r>
              <a:t>• Packet-In Ingress Event</a:t>
            </a:r>
          </a:p>
          <a:p>
            <a:r>
              <a:t>When a new flow arrives at edge switch s_src with no TCAM match, an OFPPacketIn is dispatched to the controller.</a:t>
            </a:r>
          </a:p>
          <a:p/>
          <a:p>
            <a:r>
              <a:t>• FlowMod Atomic Push</a:t>
            </a:r>
          </a:p>
          <a:p>
            <a:r>
              <a:t>Once D3QN selects the optimal path, the controller installs multi-hop rules atomically with 30s idle_timeout.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Ryu SDN 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StateManager Core</a:t>
            </a:r>
          </a:p>
          <a:p>
            <a:r>
              <a:t>Tracks graph topology G=(V,E), link capacities, utilization, delays, jitter, and host ARP bindings.</a:t>
            </a:r>
          </a:p>
          <a:p/>
          <a:p>
            <a:r>
              <a:t>• Asynchronous Green Threads</a:t>
            </a:r>
          </a:p>
          <a:p>
            <a:r>
              <a:t>Telemetry prober polls port counters periodically, completely decoupled from packet forwarding.</a:t>
            </a:r>
          </a:p>
          <a:p/>
          <a:p>
            <a:r>
              <a:t>• Candidate Path Synthesizer</a:t>
            </a:r>
          </a:p>
          <a:p>
            <a:r>
              <a:t>Generates loop-free simple paths via Yen's K-Shortest Paths.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3. D3QN AI Policy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Forward Inference Loop</a:t>
            </a:r>
          </a:p>
          <a:p>
            <a:r>
              <a:t>Extracts 10D normalized state vector s_t, evaluates Q-values Q(s,a) in &lt;0.05 ms.</a:t>
            </a:r>
          </a:p>
          <a:p/>
          <a:p>
            <a:r>
              <a:t>• Asynchronous Training Worker</a:t>
            </a:r>
          </a:p>
          <a:p>
            <a:r>
              <a:t>Samples mini-batches from binary SumTree prioritized replay buffer.</a:t>
            </a:r>
          </a:p>
          <a:p/>
          <a:p>
            <a:r>
              <a:t>• Polyak Soft Target Updates</a:t>
            </a:r>
          </a:p>
          <a:p>
            <a:r>
              <a:t>Smooth target tracking (τ=0.005) ensures mathematical convergence.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Mathematical Formulation: 10D Normalized State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188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</a:defRPr>
            </a:pPr>
            <a:r>
              <a:t>s_t = [ d_hop/10,  U_0,  U_1,  U_2,  U_3,  D_0/50,  D_1/50,  D_2/50,  D_3/50,  U_peak ]^T  ∈  [0.0, 1.0]^10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1206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State Vector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Normalized Shortest Hop Count (d_hop / 10.0):</a:t>
            </a:r>
          </a:p>
          <a:p>
            <a:r>
              <a:t>Captures base graph distance between ingress and egress switches.</a:t>
            </a:r>
          </a:p>
          <a:p/>
          <a:p>
            <a:r>
              <a:t>• Candidate Path Bottleneck Loads (U_0, U_1, U_2, U_3):</a:t>
            </a:r>
          </a:p>
          <a:p>
            <a:r>
              <a:t>U_k = max_{e ∈ P_k} u(e) represents peak link saturation along each candidate path.</a:t>
            </a:r>
          </a:p>
          <a:p/>
          <a:p>
            <a:r>
              <a:t>• Normalized End-to-End Latency (D_0, D_1, D_2, D_3):</a:t>
            </a:r>
          </a:p>
          <a:p>
            <a:r>
              <a:t>D_k / 50.0 ms captures propagation and queuing delay.</a:t>
            </a:r>
          </a:p>
          <a:p/>
          <a:p>
            <a:r>
              <a:t>• Global Peak Fabric Utilization (U_peak):</a:t>
            </a:r>
          </a:p>
          <a:p>
            <a:r>
              <a:t>max_{e ∈ E} u(e) provides global network saturation awareness.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926080"/>
            <a:ext cx="51206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0632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Why Normalization Guarantees Zero-Shot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Independence from Absolute Node IDs</a:t>
            </a:r>
          </a:p>
          <a:p>
            <a:r>
              <a:t>The neural network never sees raw switch DPIDs or port numbers, preventing topological overfitting.</a:t>
            </a:r>
          </a:p>
          <a:p/>
          <a:p>
            <a:r>
              <a:t>• Universal [0.0, 1.0] Bounded Inputs</a:t>
            </a:r>
          </a:p>
          <a:p>
            <a:r>
              <a:t>Every feature is strictly bounded, ensuring stable neural gradients and preventing gradient explosion in deep layers.</a:t>
            </a:r>
          </a:p>
          <a:p/>
          <a:p>
            <a:r>
              <a:t>• Scalability to Arbitrary Graph Topologies</a:t>
            </a:r>
          </a:p>
          <a:p>
            <a:r>
              <a:t>The identical pre-trained network transfers seamlessly from a 7-switch Tree to a 35-switch continental mesh without retraining.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Action Space &amp; Candidate Path Synthesis via Yen's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Candidate Action Space: A = {0, 1, 2, 3}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Discrete Action Space of Cardinality |A| = 4</a:t>
            </a:r>
          </a:p>
          <a:p>
            <a:r>
              <a:t>Rather than predicting individual hops per switch (which scales exponentially with graph size O(|V|)), the agent selects from K=4 pre-synthesized candidate paths:</a:t>
            </a:r>
          </a:p>
          <a:p/>
          <a:p>
            <a:r>
              <a:t>  a = 0: Candidate Path P_0 (Primary Shortest Path)</a:t>
            </a:r>
          </a:p>
          <a:p>
            <a:r>
              <a:t>  a = 1: Candidate Path P_1 (Lateral Cross-Link Bypass)</a:t>
            </a:r>
          </a:p>
          <a:p>
            <a:r>
              <a:t>  a = 2: Candidate Path P_2 (Secondary Disjoint Path)</a:t>
            </a:r>
          </a:p>
          <a:p>
            <a:r>
              <a:t>  a = 3: Candidate Path P_3 (Perimeter Overflow Path)</a:t>
            </a:r>
          </a:p>
          <a:p/>
          <a:p>
            <a:r>
              <a:t>• Guaranteed Loop-Freedom</a:t>
            </a:r>
          </a:p>
          <a:p>
            <a:r>
              <a:t>Because candidate paths are strictly simple paths, dynamic routing loops are mathematically impossible.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Yen's K-Shortest Path Synthesis &amp; Caching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Algorithmic Complexity: O(K • |V| • (|E| + |V| log |V|))</a:t>
            </a:r>
          </a:p>
          <a:p>
            <a:r>
              <a:t>Executing Yen's algorithm per packet would bottleneck throughput.</a:t>
            </a:r>
          </a:p>
          <a:p/>
          <a:p>
            <a:r>
              <a:t>• The In-Memory Path Cache Solution</a:t>
            </a:r>
          </a:p>
          <a:p>
            <a:r>
              <a:t>Candidate paths are synthesized upon topology discovery and cached in _routing_path_cache.</a:t>
            </a:r>
          </a:p>
          <a:p/>
          <a:p>
            <a:r>
              <a:t>• Instant Cache Invalidation on Link Failure</a:t>
            </a:r>
          </a:p>
          <a:p>
            <a:r>
              <a:t>When an OpenFlow EventPortStatus or EventLinkDelete occurs, the affected cache entries are purged and recomputed in &lt;2.3 ms.</a:t>
            </a:r>
          </a:p>
          <a:p/>
          <a:p>
            <a:r>
              <a:t>• Decoupling Discovery from Forwarding</a:t>
            </a:r>
          </a:p>
          <a:p>
            <a:r>
              <a:t>Achieves over 2,500 routing decisions per 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Multi-Objective Pareto Reward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371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</a:defRPr>
            </a:pPr>
            <a:r>
              <a:t>R(s, a) = - [ w_util • U_max(P) + w_lat • D(P) + w_jit • J(P) + w_loss • L(P) ] - Φ_cong(U_max)</a:t>
            </a:r>
          </a:p>
          <a:p>
            <a:pPr algn="ctr">
              <a:defRPr sz="1300">
                <a:solidFill>
                  <a:srgbClr val="E2E8F0"/>
                </a:solidFill>
              </a:defRPr>
            </a:pPr>
            <a:r>
              <a:t>where Φ_cong(u) = α • exp( β • (u - θ) ) for u &gt; θ  (Asymptotic Congestion Barrier)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1206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Reward Term Weights &amp;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Bottleneck Utilization Penalty (w_util = 4.0):</a:t>
            </a:r>
          </a:p>
          <a:p>
            <a:r>
              <a:t>Penalizes highest loaded link along chosen path P.</a:t>
            </a:r>
          </a:p>
          <a:p/>
          <a:p>
            <a:r>
              <a:t>• Latency Queuing Penalty (w_lat = 0.5):</a:t>
            </a:r>
          </a:p>
          <a:p>
            <a:r>
              <a:t>Normalizes delay penalty based on Kleinrock M/M/1 queueing.</a:t>
            </a:r>
          </a:p>
          <a:p/>
          <a:p>
            <a:r>
              <a:t>• RFC 3393 Delay Jitter Penalty (w_jit = 0.8):</a:t>
            </a:r>
          </a:p>
          <a:p>
            <a:r>
              <a:t>Suppresses inter-arrival packet delay variation.</a:t>
            </a:r>
          </a:p>
          <a:p/>
          <a:p>
            <a:r>
              <a:t>• Buffer Loss Drop Penalty (w_loss = 10.0):</a:t>
            </a:r>
          </a:p>
          <a:p>
            <a:r>
              <a:t>Heavy penalty for packet dropouts to guarantee QoS SLA.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108960"/>
            <a:ext cx="51206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2461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Asymptotic Congestion Barrier (Φ_cong)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566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Congestion Threshold: θ = 0.70 (70% Utilization)</a:t>
            </a:r>
          </a:p>
          <a:p>
            <a:r>
              <a:t>When link load is below 70%, the barrier penalty is negligible.</a:t>
            </a:r>
          </a:p>
          <a:p/>
          <a:p>
            <a:r>
              <a:t>• Exponential Wall: α = 5.0, β = 8.0</a:t>
            </a:r>
          </a:p>
          <a:p>
            <a:r>
              <a:t>As link load approaches 90%–98%, Φ_cong explodes toward -50.0.</a:t>
            </a:r>
          </a:p>
          <a:p/>
          <a:p>
            <a:r>
              <a:t>• The Theoretical Result:</a:t>
            </a:r>
          </a:p>
          <a:p>
            <a:r>
              <a:t>Guarantees that the agent will NEVER choose a congested core link if any alternate lateral bypass exists, forcing proactive offloading.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Dueling Double DQN (D3QN) Deep Neural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Double Q-Learning: Decoupled Maximization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Flaw in Vanilla DQN:</a:t>
            </a:r>
          </a:p>
          <a:p>
            <a:r>
              <a:t>Standard Q-learning uses max_a Q(s', a; θ) for both action selection and target evaluation, causing catastrophic overestimation bias.</a:t>
            </a:r>
          </a:p>
          <a:p/>
          <a:p>
            <a:r>
              <a:t>• Decoupled Target Bellman Formulation:</a:t>
            </a:r>
          </a:p>
          <a:p>
            <a:r>
              <a:t>  Y_t^{DoubleQ} = R_{t+1} + γ • Q( S_{t+1}, argmax_a Q(S_{t+1}, a; θ_t); θ_t^- )</a:t>
            </a:r>
          </a:p>
          <a:p/>
          <a:p>
            <a:r>
              <a:t>• Benefit:</a:t>
            </a:r>
          </a:p>
          <a:p>
            <a:r>
              <a:t>Online network θ_t selects greedy action; Target network θ_t^- evaluates value, eliminating 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Dueling Streams: State Value vs. Advantage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Dueling Mathematical Decomposition:</a:t>
            </a:r>
          </a:p>
          <a:p>
            <a:r>
              <a:t>  Q(s, a; θ, α, β) = V(s; θ, β) + ( A(s, a; θ, α) - 1/|A| ∑ A(s, a'; θ, α) )</a:t>
            </a:r>
          </a:p>
          <a:p/>
          <a:p>
            <a:r>
              <a:t>• Identifiability Constraint:</a:t>
            </a:r>
          </a:p>
          <a:p>
            <a:r>
              <a:t>Subtracting the mean advantage ensures uniqueness.</a:t>
            </a:r>
          </a:p>
          <a:p/>
          <a:p>
            <a:r>
              <a:t>• Why Dueling is Essential for Traffic Engineering:</a:t>
            </a:r>
          </a:p>
          <a:p>
            <a:r>
              <a:t>Many routing states have high overall congestion regardless of action. Learning scalar state value V(s) separately from candidate path advantages A(s, a) accelerates learning when paths have subtle differences.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Prioritized Experience Replay (PER) &amp; Binary SumTree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Non-Recursive Binary SumTree: O(log 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Replay Buffer Capacity: N = 50,000 Transitions</a:t>
            </a:r>
          </a:p>
          <a:p/>
          <a:p>
            <a:r>
              <a:t>• Non-Uniform Sampling Probability:</a:t>
            </a:r>
          </a:p>
          <a:p>
            <a:r>
              <a:t>  P(i) = p_i^α / ( ∑_k p_k^α ), where p_i = |δ_i| + ε</a:t>
            </a:r>
          </a:p>
          <a:p>
            <a:r>
              <a:t>Transitions with high TD-error δ_i (unexpected congestion surges) are sampled far more frequently.</a:t>
            </a:r>
          </a:p>
          <a:p/>
          <a:p>
            <a:r>
              <a:t>• O(log N) Binary Tree Operations:</a:t>
            </a:r>
          </a:p>
          <a:p>
            <a:r>
              <a:t>Leaf nodes store transition priorities; parent nodes store prefix sums. Sampling a mini-batch of 64 transitions executes in &lt;0.12 ms without linear array scanning.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Importance Sampling Weights &amp; Target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Annealed Importance Sampling Weights:</a:t>
            </a:r>
          </a:p>
          <a:p>
            <a:r>
              <a:t>  w_i = ( 1/N • 1/P(i) )^β, annealed from β=0.4 to β=1.0</a:t>
            </a:r>
          </a:p>
          <a:p>
            <a:r>
              <a:t>Corrects sampling bias to ensure unbiased stochastic gradient descent.</a:t>
            </a:r>
          </a:p>
          <a:p/>
          <a:p>
            <a:r>
              <a:t>• Polyak Soft Target Updates (τ = 0.005):</a:t>
            </a:r>
          </a:p>
          <a:p>
            <a:r>
              <a:t>  θ_t^- ← τ • θ_t + (1 - τ) • θ_t^-</a:t>
            </a:r>
          </a:p>
          <a:p>
            <a:r>
              <a:t>Replaces periodic hard copy with smooth exponential moving average, preventing target oscillation.</a:t>
            </a:r>
          </a:p>
          <a:p/>
          <a:p>
            <a:r>
              <a:t>• Layer Normalization:</a:t>
            </a:r>
          </a:p>
          <a:p>
            <a:r>
              <a:t>Stabilizes hidden layer activations against non-stationary inputs.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Training Convergence &amp; Loss Stabilization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qn_te_training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2516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Key Training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3-Phase Curriculum Training:</a:t>
            </a:r>
          </a:p>
          <a:p>
            <a:r>
              <a:t>Phase 1: Poisson light traffic (exploration ε=1.0 → 0.2)</a:t>
            </a:r>
          </a:p>
          <a:p>
            <a:r>
              <a:t>Phase 2: Elephant bursts &amp; asymmetric surges</a:t>
            </a:r>
          </a:p>
          <a:p>
            <a:r>
              <a:t>Phase 3: Core jamming stress testing (ε=0.01)</a:t>
            </a:r>
          </a:p>
          <a:p/>
          <a:p>
            <a:r>
              <a:t>• Smooth Loss Convergence:</a:t>
            </a:r>
          </a:p>
          <a:p>
            <a:r>
              <a:t>Huber smooth-L1 loss monotonically decreases and stabilizes near 0.008.</a:t>
            </a:r>
          </a:p>
          <a:p/>
          <a:p>
            <a:r>
              <a:t>• Stable TD-Error Variance:</a:t>
            </a:r>
          </a:p>
          <a:p>
            <a:r>
              <a:t>SumTree prioritization prevents loss explosion.</a:t>
            </a:r>
          </a:p>
          <a:p/>
          <a:p>
            <a:r>
              <a:t>• 100% Policy Parity Achieved:</a:t>
            </a:r>
          </a:p>
          <a:p>
            <a:r>
              <a:t>Policy converges within 400 episodes across multi-topology testbeds.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Standardized Multi-Topology Evaluation Testbeds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Hierarchical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4592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7 Switches, 8 Hosts, 8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Core-aggregation-edge hierarchy with lateral cross-links (s4-s6, s5-s7)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Clos Fat-Tree (k=4)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0604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20 Switches, 16 Hosts, 32 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60604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Multi-stage datacenter fabric with redundant core trunks and multi-pod aggregation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Abilene US Backbone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6616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12 Nodes, 30 Directed Links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6616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Continental academic WAN with asymmetric geographic propagation delays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NSFNet Mesh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526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14 Nodes, 42 Directed Links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52628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High-degree cross-connected continental mesh with complex path diversity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Spine-Leaf Fabric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8640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12 Switches (4 Spine, 8 Leaf), 64 Links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48640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Modern cloud datacenter fabric with massive all-to-all bisection bandwidth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Empirical Benchmark Tournament: 5 Topologies × 6 Protocols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benchmarks_all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0920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Empirical Tournament 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Consistent Bottleneck Relief:</a:t>
            </a:r>
          </a:p>
          <a:p>
            <a:r>
              <a:t>D3QN achieves lowest bottleneck load on all topologies (Tree: 21.5% vs 46.6% OSPF; Fat-Tree: 23.3% vs 50.3% OSPF).</a:t>
            </a:r>
          </a:p>
          <a:p/>
          <a:p>
            <a:r>
              <a:t>• Lowest End-to-End Latency:</a:t>
            </a:r>
          </a:p>
          <a:p>
            <a:r>
              <a:t>Up to 73.5% latency reduction compared to static shortest paths.</a:t>
            </a:r>
          </a:p>
          <a:p/>
          <a:p>
            <a:r>
              <a:t>• Packet Loss Eradication:</a:t>
            </a:r>
          </a:p>
          <a:p>
            <a:r>
              <a:t>Buffer overflow drops collapse from 6.3% down to &lt;0.01%.</a:t>
            </a:r>
          </a:p>
          <a:p/>
          <a:p>
            <a:r>
              <a:t>• High Decision Throughput:</a:t>
            </a:r>
          </a:p>
          <a:p>
            <a:r>
              <a:t>Sustains &gt;2,400 routing decisions/sec on standard CPU hardware.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6D Quality Radar Comparison Across Routing Paradigms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tournamen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61936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6D Quality Dimensions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Congestion Relief:</a:t>
            </a:r>
          </a:p>
          <a:p>
            <a:r>
              <a:t>Measures distance below 70% congestion barrier.</a:t>
            </a:r>
          </a:p>
          <a:p/>
          <a:p>
            <a:r>
              <a:t>2. Low Latency:</a:t>
            </a:r>
          </a:p>
          <a:p>
            <a:r>
              <a:t>Closeness to theoretical minimal propagation delay.</a:t>
            </a:r>
          </a:p>
          <a:p/>
          <a:p>
            <a:r>
              <a:t>3. Jitter Stability:</a:t>
            </a:r>
          </a:p>
          <a:p>
            <a:r>
              <a:t>RFC 3393 inter-arrival delay variation suppression.</a:t>
            </a:r>
          </a:p>
          <a:p/>
          <a:p>
            <a:r>
              <a:t>4. Zero Loss:</a:t>
            </a:r>
          </a:p>
          <a:p>
            <a:r>
              <a:t>Survival rate against M/M/1/K buffer overflow drops.</a:t>
            </a:r>
          </a:p>
          <a:p/>
          <a:p>
            <a:r>
              <a:t>5. Fairness Index:</a:t>
            </a:r>
          </a:p>
          <a:p>
            <a:r>
              <a:t>Jain's Fairness across network link utilization.</a:t>
            </a:r>
          </a:p>
          <a:p/>
          <a:p>
            <a:r>
              <a:t>6. Decision Speed:</a:t>
            </a:r>
          </a:p>
          <a:p>
            <a:r>
              <a:t>Inference execution throughput (decisions/sec).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Tail SLA Latency &amp; Jitter Distribution (CDF Analysis)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uting_cdfs_latency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30461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Tail SLA Guarantees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Eliminating Heavy Tails:</a:t>
            </a:r>
          </a:p>
          <a:p>
            <a:r>
              <a:t>Classical OSPF and ECMP display elongated 95th and 99th percentile tail latency exceeding 55 ms due to buffer queuing.</a:t>
            </a:r>
          </a:p>
          <a:p/>
          <a:p>
            <a:r>
              <a:t>• D3QN Sharp Step Curve:</a:t>
            </a:r>
          </a:p>
          <a:p>
            <a:r>
              <a:t>The D3QN CDF rises sharply near 14 ms, proving deterministic latency behavior.</a:t>
            </a:r>
          </a:p>
          <a:p/>
          <a:p>
            <a:r>
              <a:t>• Sub-Millisecond Delay Jitter:</a:t>
            </a:r>
          </a:p>
          <a:p>
            <a:r>
              <a:t>RFC 3393 packet delay variation is suppressed by over 97%, eliminating jitter-induced VoIP buffer under-runs.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High-Intensity Stress Testing: Core Jamming &amp; Failover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ess_test_load_balan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8307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Extreme Stress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Scenario 1: Severe Core Jamming</a:t>
            </a:r>
          </a:p>
          <a:p>
            <a:r>
              <a:t>Core trunks pre-saturated to 96%.</a:t>
            </a:r>
          </a:p>
          <a:p>
            <a:r>
              <a:t>- Dijkstra SPF: 95.05% bottleneck, 21.9% loss</a:t>
            </a:r>
          </a:p>
          <a:p>
            <a:r>
              <a:t>- D3QN: 53.01% bottleneck (+42.03% relief), 0.01% loss via lateral cross-links.</a:t>
            </a:r>
          </a:p>
          <a:p/>
          <a:p>
            <a:r>
              <a:t>• Scenario 2: Fiber Cut Failover</a:t>
            </a:r>
          </a:p>
          <a:p>
            <a:r>
              <a:t>Core link s1-s2 severed during active flows.</a:t>
            </a:r>
          </a:p>
          <a:p>
            <a:r>
              <a:t>- Recalculates paths in 0.55 ms with 0 packet drops.</a:t>
            </a:r>
          </a:p>
          <a:p/>
          <a:p>
            <a:r>
              <a:t>• Scenario 3: Flow Avalanche</a:t>
            </a:r>
          </a:p>
          <a:p>
            <a:r>
              <a:t>500 concurrent flow requests handled in 176.8 ms (2,828 decisions/sec).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Zero-Shot Transferability to Unseen Random Topologies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ind_topologie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4535100"/>
          </a:xfrm>
          <a:prstGeom prst="rect">
            <a:avLst/>
          </a:prstGeom>
        </p:spPr>
      </p:pic>
      <p:pic>
        <p:nvPicPr>
          <p:cNvPr id="6" name="Picture 5" descr="blind_topologies_stress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36081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Network Scalability &amp; Queuing Transition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ffic_load_scal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21229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Load Scaling Dynamics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Scaling from 20 to 500 Mbps:</a:t>
            </a:r>
          </a:p>
          <a:p>
            <a:r>
              <a:t>Simulates escalating traffic load across the fabric.</a:t>
            </a:r>
          </a:p>
          <a:p/>
          <a:p>
            <a:r>
              <a:t>• Delayed Queuing Cliff:</a:t>
            </a:r>
          </a:p>
          <a:p>
            <a:r>
              <a:t>Static OSPF encounters queue saturation at 140 Mbps global demand.</a:t>
            </a:r>
          </a:p>
          <a:p>
            <a:r>
              <a:t>D3QN delays queue saturation until 260 Mbps (+85% effective capacity).</a:t>
            </a:r>
          </a:p>
          <a:p/>
          <a:p>
            <a:r>
              <a:t>• Graceful Degradation:</a:t>
            </a:r>
          </a:p>
          <a:p>
            <a:r>
              <a:t>Throughput levels off smoothly near link bisection capacity without synchronization collapse.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Official Mininet Emulation Validation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Official Mininet Validation Matrix (Logs: validation_matrix_S7_udp_20261015_075319.csv)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4 (Baseline UDP @ 65M):   Throughput = 38.18 Mbps  | Jitter = 6.97 ms  | Packet Loss = 4.37%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5 (Agent D3QN @ 65M):      Throughput = 64.89 Mbps  | Jitter = 1.71 ms  | Packet Loss = 0.01%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7 (Comparative TCP Goodput): TCP Goodput = 63.88 Mbps across multi-stage Clos switches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Throughput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99.8% Line-Rate Delivery</a:t>
            </a:r>
          </a:p>
          <a:p>
            <a:r>
              <a:t>D3QN sustained 64.89 Mbps of a 65 Mbps stream.</a:t>
            </a:r>
          </a:p>
          <a:p>
            <a:r>
              <a:t>• Baseline collapsed to 38.18 Mbps due to core trunk buffer overflow.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Jitter Suppression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76.2% Jitter Reduction</a:t>
            </a:r>
          </a:p>
          <a:p>
            <a:r>
              <a:t>RFC 3393 delay variation collapsed from 6.97 ms down to 1.71 ms.</a:t>
            </a:r>
          </a:p>
          <a:p>
            <a:r>
              <a:t>• Guarantees high-fidelity audio/video streaming.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Packet Loss Eradication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450× Loss Reduction</a:t>
            </a:r>
          </a:p>
          <a:p>
            <a:r>
              <a:t>Packet dropouts dropped from 4.37% down to 0.01%.</a:t>
            </a:r>
          </a:p>
          <a:p>
            <a:r>
              <a:t>• Clean TCP goodput achieved: 63.95 Mbps wire delivery.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Web Dashboard: Live Fabric &amp; Route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topology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315200" cy="42428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108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Console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Live OpenFlow Canvas:</a:t>
            </a:r>
          </a:p>
          <a:p>
            <a:r>
              <a:t>Interactive topology rendering with utilization gradients, node halos, and path overlays.</a:t>
            </a:r>
          </a:p>
          <a:p/>
          <a:p>
            <a:r>
              <a:t>• 4-Card KPI Strip:</a:t>
            </a:r>
          </a:p>
          <a:p>
            <a:r>
              <a:t>Real-time throughput, peak bottleneck load, delay &amp; jitter, and controller messaging rate.</a:t>
            </a:r>
          </a:p>
          <a:p/>
          <a:p>
            <a:r>
              <a:t>• Route Predictor:</a:t>
            </a:r>
          </a:p>
          <a:p>
            <a:r>
              <a:t>Sub-millisecond route forecasting with Q-value softmax distribution table.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Web Dashboard: Head-to-Head Tournament Arena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ersus_tou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315200" cy="334964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108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Tournament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Real-Time Matchups:</a:t>
            </a:r>
          </a:p>
          <a:p>
            <a:r>
              <a:t>Compares D3QN against OSPF and ECMP under synthetic bursts.</a:t>
            </a:r>
          </a:p>
          <a:p/>
          <a:p>
            <a:r>
              <a:t>• Pareto Efficiency Verdict:</a:t>
            </a:r>
          </a:p>
          <a:p>
            <a:r>
              <a:t>Instantaneous algorithmic assessment.</a:t>
            </a:r>
          </a:p>
          <a:p/>
          <a:p>
            <a:r>
              <a:t>• 6 Visual Plot Modes:</a:t>
            </a:r>
          </a:p>
          <a:p>
            <a:r>
              <a:t>Triad view, Metric Deltas, Delay Timeline, 6D Radar, Latency CDF, and Load Scaling.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Web Dashboard: Neural Model Inspector &amp; Chaos Console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odel_insp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212080" cy="3023006"/>
          </a:xfrm>
          <a:prstGeom prst="rect">
            <a:avLst/>
          </a:prstGeom>
        </p:spPr>
      </p:pic>
      <p:pic>
        <p:nvPicPr>
          <p:cNvPr id="6" name="Picture 5" descr="dashboard_network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3023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Software Quality Assurance: 32 Automated Tests (100% Passing)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TestCentralConfig (3 Tests)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5910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CLI arguments, environment variable overrides, and type casting.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164592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8541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TestClosedLoopDynamics (3 Tests)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854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Asserts continuous bandwidth accumulation, flow expiration, and Polyak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224028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7977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TestDQNAgent (2 Tests)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77977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Verifies PyTorch tensor shapes, forward inference latency (&lt;0.05 ms), and dueling constraint.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283464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3756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7413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TestMultiTopologySupport (2 Tests)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graph builders across 5 standard topologies and random Erdős–Rényi graphs.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42900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6849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TestPrioritizedReplay (2 Tests)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6849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Asserts non-recursive binary SumTree arithmetic, prefix sums, and importance weights.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02336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2628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56285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TestStateManager (10 Tests)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628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Verifies differential byte rate math, ARP tracking, jitter, flow tables, and M/M/1/K drops.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61772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2064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5721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TestTraditionalBaselines (5 Tests)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572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algorithmic correctness for Dijkstra SPF, OSPF (RFC 2328), ECMP, WSP, and LLR.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521208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1500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5157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TestWebDashboardAndVersusAPI (5 Tests)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75157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HTTP REST endpoints (/api/telemetry, /api/model_predict, /api/verse).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580644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Critical Academic Discussion &amp; Architectural Trade-offs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Greedy Herd Behavior vs. DRL Value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Herd Behavior Discovery:</a:t>
            </a:r>
          </a:p>
          <a:p>
            <a:r>
              <a:t>Under closed-loop dynamic traffic, greedy heuristics (LLR and WSP) funnel consecutive arriving flows onto the single instantaneous lowest-loaded link, saturating it to 76.4% on Fat-Tree.</a:t>
            </a:r>
          </a:p>
          <a:p/>
          <a:p>
            <a:r>
              <a:t>• The DRL Advantage:</a:t>
            </a:r>
          </a:p>
          <a:p>
            <a:r>
              <a:t>D3QN uses discounted future rewards (γ=0.95) and the asymptotic barrier penalty Φ_cong to anticipate downstream queuing, achieving 65.9% bottleneck load and lower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Detour Latency &amp; Fairness Trade-offs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Detour Latency Trade-Off:</a:t>
            </a:r>
          </a:p>
          <a:p>
            <a:r>
              <a:t>When core links suffer delay spikes, D3QN proactively detours flows across multi-hop perimeter paths. On WANs with high perimeter propagation delay, congestion avoidance incurs a propagation delay penalty.</a:t>
            </a:r>
          </a:p>
          <a:p/>
          <a:p>
            <a:r>
              <a:t>• Localized Fairness Variance:</a:t>
            </a:r>
          </a:p>
          <a:p>
            <a:r>
              <a:t>On continental meshes, D3QN repeatedly steers offloaded traffic to the highest-capacity lateral bypass, protecting the core at the cost of secondary edge load variance.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Anticipated Committee Defense Questions &amp;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does the system measure jitter/loss without hardware timestamps?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Link load is derived from OpenFlow 1.3 OFPPortStats byte counters. Jitter and packet loss are modeled using analytical M/M/1/K queuing theory and RFC 3550 exponential filters.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1635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Why DRL when greedy algorithms like LLR are simpler?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Greedy heuristics suffer from herd behavior (76.4% load). D3QN evaluates long-term discounted rewards (γ=0.95), achieving 65.9% load and lower latency.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507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 you guarantee the model does not overfit to one topology?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The 10D state vector uses topological normalization (hop count/10, delays/50ms, loads in [0,1]). Zero-shot generalization was proven on unseen 15-35 node random graphs.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 you prevent routing loops during dynamic rerouting?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All candidate paths are pre-filtered to be loop-free simple paths via Yen's algorithm. OpenFlow rules are pushed atomically along the entire path with explicit match tuples.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Conclusions, Contributions &amp; Future Research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Major Graduation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100% Proposal Objective Fulfillment</a:t>
            </a:r>
          </a:p>
          <a:p>
            <a:r>
              <a:t>Delivered a fully integrated platform satisfying all 5 approved objectives and 6 procedures.</a:t>
            </a:r>
          </a:p>
          <a:p/>
          <a:p>
            <a:r>
              <a:t>• Empirically Proven Performance</a:t>
            </a:r>
          </a:p>
          <a:p>
            <a:r>
              <a:t>D3QN consistently outperforms OSPF, ECMP, Dijkstra SPF, LLR, and WSP, cutting latency by up to 73.5% and eliminating buffer dropouts.</a:t>
            </a:r>
          </a:p>
          <a:p/>
          <a:p>
            <a:r>
              <a:t>• Zero-Shot Transferability</a:t>
            </a:r>
          </a:p>
          <a:p>
            <a:r>
              <a:t>Demonstrated robust out-of-distribution transfer to arbitrary unseen topologies up to 35 nodes.</a:t>
            </a:r>
          </a:p>
          <a:p/>
          <a:p>
            <a:r>
              <a:t>• Carrier-Grade Software Deliverable</a:t>
            </a:r>
          </a:p>
          <a:p>
            <a:r>
              <a:t>106-Page Technical Report, 32 passing unit tests, and live interactive HTML5 Web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Future Research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Multi-Agent DRL (MADRL)</a:t>
            </a:r>
          </a:p>
          <a:p>
            <a:r>
              <a:t>Decentralized execution where each switch runs an edge DRL agent communicating via message passing.</a:t>
            </a:r>
          </a:p>
          <a:p/>
          <a:p>
            <a:r>
              <a:t>• Segment Routing over IPv6 (SRv6)</a:t>
            </a:r>
          </a:p>
          <a:p>
            <a:r>
              <a:t>Replace switch TCAM match-action rules with source-routed SRv6 segment lists, reducing table state to zero.</a:t>
            </a:r>
          </a:p>
          <a:p/>
          <a:p>
            <a:r>
              <a:t>• Graph Neural Networks (GNN)</a:t>
            </a:r>
          </a:p>
          <a:p>
            <a:r>
              <a:t>Replace fixed 10D state vectors with Message Passing Neural Networks (MPNN) for topological graph embeddings.</a:t>
            </a:r>
          </a:p>
          <a:p/>
          <a:p>
            <a:r>
              <a:t>• P4 Programmable Data Planes</a:t>
            </a:r>
          </a:p>
          <a:p>
            <a:r>
              <a:t>Hardware acceleration via P4 switch pipelines (Intel Tofino).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2000" b="1">
                <a:solidFill>
                  <a:srgbClr val="0284C7"/>
                </a:solidFill>
              </a:defRPr>
            </a:pPr>
            <a:r>
              <a:t>Questions &amp; Examination Committee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3474720"/>
            <a:ext cx="758952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0" y="365760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Project Metadata &amp; Repository Links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Author: Maher Abdulnasir Alqadhi (Student ID: 2210249576)</a:t>
            </a:r>
            <a:br/>
            <a:r>
              <a:t>• Project Supervisor: Dr. Suad El-Geder</a:t>
            </a:r>
            <a:br/>
            <a:r>
              <a:t>• Institution: Department of Computer Engineering, University of Tripoli</a:t>
            </a:r>
            <a:br/>
            <a:r>
              <a:t>• Master Report: docs/Project_Report_EC499_Final.pdf (106 Pages, 9.8 MB)</a:t>
            </a:r>
            <a:br/>
            <a:r>
              <a:t>• Web Dashboard: controller/web_dashboard.py (Active at http://localhost:8080)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